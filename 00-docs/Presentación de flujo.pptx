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6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286000"/>
          </a:xfrm>
          <a:prstGeom prst="rect">
            <a:avLst/>
          </a:prstGeom>
          <a:solidFill>
            <a:srgbClr val="0151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31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 ·  BASES DE DATOS AVANZADAS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94360" y="274320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Turismo Inteligente</a:t>
            </a:r>
            <a:endParaRPr lang="en-US" sz="4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la nube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Migración, integración de datos y analítica sobre infraestructura cloud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502920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212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ejecutiva final  ·  Semanas 3 y 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RDS  ·  MongoDB Atlas  ·  Amazon S3  ·  Power BI  ·  Machine Learning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se hizo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10241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pasó de un laboratorio local a una solución en la nube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600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a la nube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0299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bases de datos se llevaron a AWS y MongoDB Atlas, con un plan de migración y pruebas.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97180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743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datos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1729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ETL une PostgreSQL y MongoDB en un almacén de datos en SQL Server.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411480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3886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negocio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43159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muestra los indicadores del negocio conectado a los datos en la nube.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525780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5029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de investigación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54589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de Machine Learning clasifica el sentimiento de las reseñas.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Turismo Inteligente  ·  Semanas 3 y 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10241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datos de origen hasta el usuario final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2377440"/>
            <a:ext cx="2011680" cy="1920240"/>
          </a:xfrm>
          <a:prstGeom prst="roundRect">
            <a:avLst>
              <a:gd name="adj" fmla="val 4762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560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Orígenes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51176" y="3154680"/>
            <a:ext cx="329184" cy="320040"/>
          </a:xfrm>
          <a:prstGeom prst="rightArrow">
            <a:avLst/>
          </a:prstGeom>
          <a:solidFill>
            <a:srgbClr val="5B7177"/>
          </a:solidFill>
          <a:ln/>
        </p:spPr>
      </p:sp>
      <p:sp>
        <p:nvSpPr>
          <p:cNvPr id="8" name="Shape 6"/>
          <p:cNvSpPr/>
          <p:nvPr/>
        </p:nvSpPr>
        <p:spPr>
          <a:xfrm>
            <a:off x="2843784" y="2377440"/>
            <a:ext cx="2011680" cy="1920240"/>
          </a:xfrm>
          <a:prstGeom prst="roundRect">
            <a:avLst>
              <a:gd name="adj" fmla="val 4762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2843784" y="2560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843784" y="30632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 los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92040" y="3154680"/>
            <a:ext cx="329184" cy="320040"/>
          </a:xfrm>
          <a:prstGeom prst="rightArrow">
            <a:avLst/>
          </a:prstGeom>
          <a:solidFill>
            <a:srgbClr val="5B7177"/>
          </a:solidFill>
          <a:ln/>
        </p:spPr>
      </p:sp>
      <p:sp>
        <p:nvSpPr>
          <p:cNvPr id="12" name="Shape 10"/>
          <p:cNvSpPr/>
          <p:nvPr/>
        </p:nvSpPr>
        <p:spPr>
          <a:xfrm>
            <a:off x="5184648" y="2377440"/>
            <a:ext cx="2011680" cy="1920240"/>
          </a:xfrm>
          <a:prstGeom prst="roundRect">
            <a:avLst>
              <a:gd name="adj" fmla="val 4762"/>
            </a:avLst>
          </a:prstGeom>
          <a:solidFill>
            <a:srgbClr val="01515F"/>
          </a:solidFill>
          <a:ln/>
        </p:spPr>
      </p:sp>
      <p:sp>
        <p:nvSpPr>
          <p:cNvPr id="13" name="Text 11"/>
          <p:cNvSpPr/>
          <p:nvPr/>
        </p:nvSpPr>
        <p:spPr>
          <a:xfrm>
            <a:off x="5184648" y="2560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Almacén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84648" y="30632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(modelo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analítico)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32904" y="3154680"/>
            <a:ext cx="329184" cy="320040"/>
          </a:xfrm>
          <a:prstGeom prst="rightArrow">
            <a:avLst/>
          </a:prstGeom>
          <a:solidFill>
            <a:srgbClr val="5B7177"/>
          </a:solidFill>
          <a:ln/>
        </p:spPr>
      </p:sp>
      <p:sp>
        <p:nvSpPr>
          <p:cNvPr id="16" name="Shape 14"/>
          <p:cNvSpPr/>
          <p:nvPr/>
        </p:nvSpPr>
        <p:spPr>
          <a:xfrm>
            <a:off x="7525512" y="2377440"/>
            <a:ext cx="2011680" cy="1920240"/>
          </a:xfrm>
          <a:prstGeom prst="roundRect">
            <a:avLst>
              <a:gd name="adj" fmla="val 4762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7525512" y="2560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Nube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525512" y="30632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S3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573768" y="3154680"/>
            <a:ext cx="329184" cy="320040"/>
          </a:xfrm>
          <a:prstGeom prst="rightArrow">
            <a:avLst/>
          </a:prstGeom>
          <a:solidFill>
            <a:srgbClr val="5B7177"/>
          </a:solidFill>
          <a:ln/>
        </p:spPr>
      </p:sp>
      <p:sp>
        <p:nvSpPr>
          <p:cNvPr id="20" name="Shape 18"/>
          <p:cNvSpPr/>
          <p:nvPr/>
        </p:nvSpPr>
        <p:spPr>
          <a:xfrm>
            <a:off x="9866376" y="2377440"/>
            <a:ext cx="2011680" cy="1920240"/>
          </a:xfrm>
          <a:prstGeom prst="roundRect">
            <a:avLst>
              <a:gd name="adj" fmla="val 4762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9866376" y="2560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866376" y="30632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modelo ML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846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de origen nunca se modifican: el ETL solo lee de ellos y escribe en el destino.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Turismo Inteligente  ·  Semanas 3 y 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Migración a la nube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10241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movió y a dónde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206240"/>
                <a:gridCol w="246888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1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Destino en la nube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1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15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Almacén de datos (SQL Server)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RDS for SQL Server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RDS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relacional (PostgreSQL)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RDS for PostgreSQL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RDS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NoSQL (MongoDB)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Atlas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Archivos crudos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Bucket de almacenamiento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S3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120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migración se probó primero con un piloto (5-10% de los datos) y tiene un plan de reversión: si algo falla, se vuelve al entorno local sin pérdida.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Turismo Inteligente  ·  Semanas 3 y 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36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datos integrados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volumen del negocio, unificado y validado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01515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5146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8.3 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integrados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29000" y="210312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01515F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25146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500,002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566160" y="34290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reseñas de clientes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01515F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5146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/ 22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355080" y="34290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de consistencia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06840" y="210312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01515F"/>
          </a:solidFill>
          <a:ln/>
        </p:spPr>
      </p:sp>
      <p:sp>
        <p:nvSpPr>
          <p:cNvPr id="14" name="Text 12"/>
          <p:cNvSpPr/>
          <p:nvPr/>
        </p:nvSpPr>
        <p:spPr>
          <a:xfrm>
            <a:off x="9006840" y="25146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144000" y="34290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datos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conteos entre el origen y la nube coinciden, y las relaciones del modelo quedaron verificadas.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Turismo Inteligente  ·  Semanas 3 y 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en Power BI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10241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indicadores del negocio, conectados a los datos en la nube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EEF5F4"/>
          </a:solidFill>
          <a:ln w="19050">
            <a:solidFill>
              <a:srgbClr val="02809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2811780" y="2743200"/>
            <a:ext cx="10058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68396" y="2990088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3515868" y="2816352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79476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Captura: Power BI — Página 1 (Resumen)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EEF5F4"/>
          </a:solidFill>
          <a:ln w="19050">
            <a:solidFill>
              <a:srgbClr val="02809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8343900" y="2743200"/>
            <a:ext cx="10058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00516" y="2990088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Shape 10"/>
          <p:cNvSpPr/>
          <p:nvPr/>
        </p:nvSpPr>
        <p:spPr>
          <a:xfrm>
            <a:off x="9047988" y="2816352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379476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Captura: Power BI — Página 6 (Estado del sistema)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páginas  ·  55 visuales  ·  52 medidas  ·  conectado al almacén en AWS RDS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Turismo Inteligente  ·  Semanas 3 y 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Tema de investigación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10241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Learning: clasificación de reseñas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del texto de una reseña, un modelo predice si es negativa, neutral o positiva.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entrenó con las 500,002 reseñas del negocio, usando un modelo simple y explicable (TF-IDF + Regresión Logística).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de clasificación de frases nuevas: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"Negativa" detectada con 62% de confianza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47548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"Positiva" detectada con 95% de confianza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1663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"Neutral" detectada con 99% de confianza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766560" y="1737360"/>
            <a:ext cx="475488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FB2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040880" y="1920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qué sirve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08660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Etiquetar reseñas que llegan solo como texto.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Alertar ante un aumento de reseñas negativas.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la satisfacción sin leer cada reseña.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Turismo Inteligente  ·  Semanas 3 y 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10241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 la solución funcionando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0" y="1783080"/>
            <a:ext cx="6675120" cy="3749040"/>
          </a:xfrm>
          <a:prstGeom prst="roundRect">
            <a:avLst>
              <a:gd name="adj" fmla="val 1951"/>
            </a:avLst>
          </a:prstGeom>
          <a:solidFill>
            <a:srgbClr val="EEF5F4"/>
          </a:solidFill>
          <a:ln w="19050">
            <a:solidFill>
              <a:srgbClr val="02809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577840" y="288036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5961888" y="3154680"/>
            <a:ext cx="457200" cy="45720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0" y="388620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para el video de demostración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715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Recorrido: datos en la nube, refresco del dashboard y clasificación de reseñas en vivo.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Turismo Inteligente  ·  Semanas 3 y 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136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del proyecto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01515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91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Terminado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60120" y="228600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4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a la nube (AWS y Atlas)</a:t>
            </a:r>
            <a:endParaRPr lang="en-US" sz="14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4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e integración de datos</a:t>
            </a:r>
            <a:endParaRPr lang="en-US" sz="14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4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Almacén de datos validado</a:t>
            </a:r>
            <a:endParaRPr lang="en-US" sz="14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4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conectado a la nube</a:t>
            </a:r>
            <a:endParaRPr lang="en-US" sz="14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4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de investigación (ML de reseñas)</a:t>
            </a:r>
            <a:endParaRPr lang="en-US" sz="14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4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usuario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146304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01515F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691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cerrar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629400" y="228600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4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del dashboard en la nube</a:t>
            </a:r>
            <a:endParaRPr lang="en-US" sz="14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4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 demostración</a:t>
            </a:r>
            <a:endParaRPr lang="en-US" sz="14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4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final ante el grupo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Turismo Inteligente  ·  Semanas 3 y 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36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1364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85800" y="3474720"/>
            <a:ext cx="2743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Turismo Inteligente  ·  Semanas 3 y 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solución de datos, migrada a la nube y lista para operar.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2026-08-26T02:39:00Z</dcterms:created>
  <dcterms:modified xsi:type="dcterms:W3CDTF">2026-08-26T02:39:00Z</dcterms:modified>
</cp:coreProperties>
</file>